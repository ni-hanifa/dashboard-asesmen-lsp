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9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B8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5B6B8C"/>
                </a:solidFill>
                <a:latin typeface="Arial"/>
              </a:rPr>
              <a:t>Jumlah Asesor per Instansi (contoh)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Jumlah Asesor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Yudha Wahana Abadi</c:v>
                  </c:pt>
                  <c:pt idx="1">
                    <c:v>Subur Abadi Wana Agung</c:v>
                  </c:pt>
                  <c:pt idx="2">
                    <c:v>Gawi Bahandep Sawit Mekar</c:v>
                  </c:pt>
                  <c:pt idx="3">
                    <c:v>Natura Pasific Nusantara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CADCF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B8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5B6B8C"/>
                </a:solidFill>
                <a:latin typeface="Arial"/>
              </a:rPr>
              <a:t>Jumlah Asesor per Provinsi (contoh)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Jumlah Asesor</c:v>
                </c:pt>
              </c:strCache>
            </c:strRef>
          </c:tx>
          <c:spPr>
            <a:solidFill>
              <a:srgbClr val="3D5A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Riau</c:v>
                  </c:pt>
                  <c:pt idx="1">
                    <c:v>Aceh</c:v>
                  </c:pt>
                  <c:pt idx="2">
                    <c:v>Kalimantan Timur</c:v>
                  </c:pt>
                  <c:pt idx="3">
                    <c:v>Sumatera Utara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3</c:v>
                </c:pt>
                <c:pt idx="3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CADCF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 (TGT)</c:v>
                </c:pt>
              </c:strCache>
            </c:strRef>
          </c:tx>
          <c:spPr>
            <a:solidFill>
              <a:srgbClr val="E3A00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Wedly AP Sitanggang</c:v>
                  </c:pt>
                  <c:pt idx="1">
                    <c:v>Benny Juli Sigalingging</c:v>
                  </c:pt>
                  <c:pt idx="2">
                    <c:v>Joko Setiawan</c:v>
                  </c:pt>
                  <c:pt idx="3">
                    <c:v>Erikson H. Saragih</c:v>
                  </c:pt>
                  <c:pt idx="4">
                    <c:v>Muhammad Irfan Asrori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30</c:v>
                </c:pt>
                <c:pt idx="2">
                  <c:v>9</c:v>
                </c:pt>
                <c:pt idx="3">
                  <c:v>9</c:v>
                </c:pt>
                <c:pt idx="4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Aktual (ACT)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Wedly AP Sitanggang</c:v>
                  </c:pt>
                  <c:pt idx="1">
                    <c:v>Benny Juli Sigalingging</c:v>
                  </c:pt>
                  <c:pt idx="2">
                    <c:v>Joko Setiawan</c:v>
                  </c:pt>
                  <c:pt idx="3">
                    <c:v>Erikson H. Saragih</c:v>
                  </c:pt>
                  <c:pt idx="4">
                    <c:v>Muhammad Irfan Asrori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19</c:v>
                </c:pt>
                <c:pt idx="1">
                  <c:v>49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CADCF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E2761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Aktual (ACT)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Ags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Des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</c:v>
                </c:pt>
                <c:pt idx="1">
                  <c:v>10</c:v>
                </c:pt>
                <c:pt idx="2">
                  <c:v>28</c:v>
                </c:pt>
                <c:pt idx="3">
                  <c:v>9</c:v>
                </c:pt>
                <c:pt idx="4">
                  <c:v>9</c:v>
                </c:pt>
                <c:pt idx="5">
                  <c:v>8</c:v>
                </c:pt>
                <c:pt idx="6">
                  <c:v>0</c:v>
                </c:pt>
                <c:pt idx="7">
                  <c:v>5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Target (TGT)</c:v>
                </c:pt>
              </c:strCache>
            </c:strRef>
          </c:tx>
          <c:spPr>
            <a:solidFill>
              <a:srgbClr val="E3A008"/>
            </a:solidFill>
            <a:ln w="31750" cap="flat">
              <a:solidFill>
                <a:srgbClr val="E3A00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3A008"/>
              </a:solidFill>
              <a:ln w="9525" cap="flat">
                <a:solidFill>
                  <a:srgbClr val="E3A00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Ags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Des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3</c:v>
                </c:pt>
                <c:pt idx="7">
                  <c:v>16</c:v>
                </c:pt>
                <c:pt idx="8">
                  <c:v>26</c:v>
                </c:pt>
                <c:pt idx="9">
                  <c:v>26</c:v>
                </c:pt>
                <c:pt idx="10">
                  <c:v>26</c:v>
                </c:pt>
                <c:pt idx="11">
                  <c:v>26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CADCF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E2761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CC71"/>
              </a:solidFill>
              <a:effectLst/>
            </c:spPr>
          </c:dPt>
          <c:dPt>
            <c:idx val="1"/>
            <c:bubble3D val="0"/>
            <c:spPr>
              <a:solidFill>
                <a:srgbClr val="E74C3C"/>
              </a:solidFill>
              <a:effectLst/>
            </c:spPr>
          </c:dPt>
          <c:dLbls>
            <c:dLbl>
              <c:idx val="0"/>
              <c:numFmt formatCode="#,##0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#,##0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DONE</c:v>
                </c:pt>
                <c:pt idx="1">
                  <c:v>NOT DONE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259</c:v>
                </c:pt>
                <c:pt idx="1">
                  <c:v>46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2761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Jumlah Asesi (Selesai)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</c:v>
                </c:pt>
                <c:pt idx="1">
                  <c:v>46</c:v>
                </c:pt>
                <c:pt idx="2">
                  <c:v>88</c:v>
                </c:pt>
                <c:pt idx="3">
                  <c:v>73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CADCF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Jumlah Asesi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PT. BBB-S</c:v>
                  </c:pt>
                  <c:pt idx="1">
                    <c:v>PT. NPN</c:v>
                  </c:pt>
                  <c:pt idx="2">
                    <c:v>PT. GBSM</c:v>
                  </c:pt>
                  <c:pt idx="3">
                    <c:v>PT. BBB-K</c:v>
                  </c:pt>
                  <c:pt idx="4">
                    <c:v>PT. EBL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72</c:v>
                </c:pt>
                <c:pt idx="1">
                  <c:v>49</c:v>
                </c:pt>
                <c:pt idx="2">
                  <c:v>45</c:v>
                </c:pt>
                <c:pt idx="3">
                  <c:v>39</c:v>
                </c:pt>
                <c:pt idx="4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CADCF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Benny Juli Sigalingging</c:v>
                  </c:pt>
                  <c:pt idx="1">
                    <c:v>Boni Parican</c:v>
                  </c:pt>
                  <c:pt idx="2">
                    <c:v>Wedly AP Sitanggang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</c:v>
                </c:pt>
                <c:pt idx="1">
                  <c:v>1</c:v>
                </c:pt>
                <c:pt idx="2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3D5A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Benny Juli Sigalingging</c:v>
                  </c:pt>
                  <c:pt idx="1">
                    <c:v>Boni Parican</c:v>
                  </c:pt>
                  <c:pt idx="2">
                    <c:v>Wedly AP Sitanggang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</c:v>
                </c:pt>
                <c:pt idx="1">
                  <c:v>17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7B9FD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Benny Juli Sigalingging</c:v>
                  </c:pt>
                  <c:pt idx="1">
                    <c:v>Boni Parican</c:v>
                  </c:pt>
                  <c:pt idx="2">
                    <c:v>Wedly AP Sitanggang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27</c:v>
                </c:pt>
                <c:pt idx="1">
                  <c:v>18</c:v>
                </c:pt>
                <c:pt idx="2">
                  <c:v>16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E3A00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Benny Juli Sigalingging</c:v>
                  </c:pt>
                  <c:pt idx="1">
                    <c:v>Boni Parican</c:v>
                  </c:pt>
                  <c:pt idx="2">
                    <c:v>Wedly AP Sitanggang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49</c:v>
                </c:pt>
                <c:pt idx="1">
                  <c:v>0</c:v>
                </c:pt>
                <c:pt idx="2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CADCF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761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Jumlah Asesi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KALTENG 2</c:v>
                  </c:pt>
                  <c:pt idx="1">
                    <c:v>KALTIM 1</c:v>
                  </c:pt>
                  <c:pt idx="2">
                    <c:v>KALTENG 1</c:v>
                  </c:pt>
                  <c:pt idx="3">
                    <c:v>KALTIM 2</c:v>
                  </c:pt>
                  <c:pt idx="4">
                    <c:v>SUMATERA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35</c:v>
                </c:pt>
                <c:pt idx="2">
                  <c:v>47</c:v>
                </c:pt>
                <c:pt idx="3">
                  <c:v>54</c:v>
                </c:pt>
                <c:pt idx="4">
                  <c:v>111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CADCF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7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8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9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188720"/>
            <a:ext cx="4754880" cy="4754880"/>
          </a:xfrm>
          <a:prstGeom prst="ellipse">
            <a:avLst/>
          </a:prstGeom>
          <a:solidFill>
            <a:srgbClr val="3D5AA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3D5AA6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40080"/>
            <a:ext cx="822960" cy="822960"/>
          </a:xfrm>
          <a:prstGeom prst="ellipse">
            <a:avLst/>
          </a:prstGeom>
          <a:solidFill>
            <a:srgbClr val="E3A008"/>
          </a:solidFill>
          <a:ln/>
        </p:spPr>
      </p:sp>
      <p:pic>
        <p:nvPicPr>
          <p:cNvPr id="5" name="Image 0" descr="/home/claude/icon_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251" y="82113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4688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3A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VISUALISASI DATA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8346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Kenapa Setiap Grafik Dipilih?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457200" y="3794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Monitoring Asesmen Pemanen LSP 2026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" y="43434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Alasan pemilihan tipe grafik untuk tiap panel dashboard, dan tujuan yang ingin dijawab masing-masing.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Monitoring Asesmen Pemanen LSP 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E3A008"/>
          </a:solidFill>
          <a:ln/>
        </p:spPr>
      </p:sp>
      <p:pic>
        <p:nvPicPr>
          <p:cNvPr id="3" name="Image 0" descr="/home/claude/icon_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018" y="552298"/>
            <a:ext cx="358445" cy="358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A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 DASAR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62179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Setiap Grafik Menjawab Satu Jenis Pertanyaan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280160" y="10789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Tipe grafik bukan soal selera tampilan. Dipilih berdasarkan bentuk data dan pertanyaan yang ingin dijawab.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8288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85800" y="20848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home/claude/icon_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42" y="2195474"/>
            <a:ext cx="281635" cy="2816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272491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 antar kategori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85800" y="32004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206240" y="18288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434840" y="20848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home/claude/icon_pi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5482" y="2195474"/>
            <a:ext cx="281635" cy="28163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34840" y="272491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Proporsi dari keseluruhan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434840" y="32004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7955280" y="18288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183880" y="20848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3" descr="/home/claude/icon_li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4522" y="2195474"/>
            <a:ext cx="281635" cy="28163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183880" y="272491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 dari waktu ke waktu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8183880" y="32004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457200" y="39776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85800" y="42336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4" descr="/home/claude/icon_funne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442" y="4344314"/>
            <a:ext cx="281635" cy="28163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85800" y="487375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bertahap / berurutan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685800" y="53492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</a:t>
            </a:r>
            <a:endParaRPr lang="en-US" sz="1500" dirty="0"/>
          </a:p>
        </p:txBody>
      </p:sp>
      <p:sp>
        <p:nvSpPr>
          <p:cNvPr id="27" name="Shape 20"/>
          <p:cNvSpPr/>
          <p:nvPr/>
        </p:nvSpPr>
        <p:spPr>
          <a:xfrm>
            <a:off x="4206240" y="39776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434840" y="42336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9" name="Image 5" descr="/home/claude/icon_targ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5482" y="4344314"/>
            <a:ext cx="281635" cy="281635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434840" y="487375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metrik berpasangan</a:t>
            </a:r>
            <a:endParaRPr lang="en-US" sz="1250" dirty="0"/>
          </a:p>
        </p:txBody>
      </p:sp>
      <p:sp>
        <p:nvSpPr>
          <p:cNvPr id="31" name="Text 23"/>
          <p:cNvSpPr/>
          <p:nvPr/>
        </p:nvSpPr>
        <p:spPr>
          <a:xfrm>
            <a:off x="4434840" y="53492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 Bar + Line</a:t>
            </a:r>
            <a:endParaRPr lang="en-US" sz="1500" dirty="0"/>
          </a:p>
        </p:txBody>
      </p:sp>
      <p:sp>
        <p:nvSpPr>
          <p:cNvPr id="32" name="Shape 24"/>
          <p:cNvSpPr/>
          <p:nvPr/>
        </p:nvSpPr>
        <p:spPr>
          <a:xfrm>
            <a:off x="7955280" y="39776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8183880" y="42336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4" name="Image 6" descr="/home/claude/icon_tab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4522" y="4344314"/>
            <a:ext cx="281635" cy="281635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183880" y="487375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/ lookup individual</a:t>
            </a:r>
            <a:endParaRPr lang="en-US" sz="1250" dirty="0"/>
          </a:p>
        </p:txBody>
      </p:sp>
      <p:sp>
        <p:nvSpPr>
          <p:cNvPr id="36" name="Text 27"/>
          <p:cNvSpPr/>
          <p:nvPr/>
        </p:nvSpPr>
        <p:spPr>
          <a:xfrm>
            <a:off x="8183880" y="53492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</a:t>
            </a:r>
            <a:endParaRPr lang="en-US" sz="1500" dirty="0"/>
          </a:p>
        </p:txBody>
      </p:sp>
      <p:sp>
        <p:nvSpPr>
          <p:cNvPr id="37" name="Text 2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Monitoring Asesmen Pemanen LSP 2026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icon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018" y="552298"/>
            <a:ext cx="358445" cy="358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A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 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62179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Sebaran Asesor per PT &amp; Provinsi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280160" y="10789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 Chart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grafik ini?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2057400"/>
            <a:ext cx="512064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instansi dan provinsi cenderung panjang, bar horizontal menjaga label tetap utuh tanpa dipotong atau dimiringkan.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cukup banyak, bar horizontal lebih rapi ditumpuk ke bawah dibanding bar vertikal yang berdesakan.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Diurutkan dari terkecil ke terbesar agar pola sebaran langsung terlihat sekali pandang.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57200" y="4434840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CADCFC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45720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5800" y="484632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Melihat pemerataan asesor secara instansi dan wilayah, serta mendeteksi PT atau provinsi yang kekurangan asesor.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943600" y="1737360"/>
          <a:ext cx="5790895" cy="201899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3" name="Chart 1" descr=""/>
          <p:cNvGraphicFramePr/>
          <p:nvPr/>
        </p:nvGraphicFramePr>
        <p:xfrm>
          <a:off x="5943600" y="3924605"/>
          <a:ext cx="5790895" cy="201899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Monitoring Asesmen Pemanen LSP 2026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icon_fun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018" y="552298"/>
            <a:ext cx="358445" cy="358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A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 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62179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Tahapan Sertifikasi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280160" y="10789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Chart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613855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grafik ini?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13855" y="2057400"/>
            <a:ext cx="512064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tahap (Asesmen, Pengajuan Blanko, Terbit Blanko, Delivery Blanko) berjalan berurutan, bukan kategori yang sejajar.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menampilkan penyusutan jumlah dari satu tahap ke tahap berikutnya secara visual, sehingga langsung terlihat di mana jumlahnya berkurang paling banyak.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613855" y="4434840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CADCFC"/>
          </a:solidFill>
          <a:ln/>
        </p:spPr>
      </p:sp>
      <p:sp>
        <p:nvSpPr>
          <p:cNvPr id="10" name="Text 7"/>
          <p:cNvSpPr/>
          <p:nvPr/>
        </p:nvSpPr>
        <p:spPr>
          <a:xfrm>
            <a:off x="6842455" y="45720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42455" y="484632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Mengidentifikasi bottleneck, yaitu tahap administrasi mana yang paling banyak menahan proses sertifikasi.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181062" y="1828800"/>
            <a:ext cx="4343171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1181062" y="1828800"/>
            <a:ext cx="434317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Asesmen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661393" y="182880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259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181062" y="2651760"/>
            <a:ext cx="4343171" cy="566928"/>
          </a:xfrm>
          <a:prstGeom prst="roundRect">
            <a:avLst>
              <a:gd name="adj" fmla="val 9677"/>
            </a:avLst>
          </a:prstGeom>
          <a:solidFill>
            <a:srgbClr val="3D5AA6"/>
          </a:solidFill>
          <a:ln/>
        </p:spPr>
      </p:sp>
      <p:sp>
        <p:nvSpPr>
          <p:cNvPr id="16" name="Text 13"/>
          <p:cNvSpPr/>
          <p:nvPr/>
        </p:nvSpPr>
        <p:spPr>
          <a:xfrm>
            <a:off x="1181062" y="2651760"/>
            <a:ext cx="434317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Pengajuan Blanko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661393" y="265176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259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1331983" y="3474720"/>
            <a:ext cx="4041329" cy="566928"/>
          </a:xfrm>
          <a:prstGeom prst="roundRect">
            <a:avLst>
              <a:gd name="adj" fmla="val 9677"/>
            </a:avLst>
          </a:prstGeom>
          <a:solidFill>
            <a:srgbClr val="7B9FD1"/>
          </a:solidFill>
          <a:ln/>
        </p:spPr>
      </p:sp>
      <p:sp>
        <p:nvSpPr>
          <p:cNvPr id="19" name="Text 16"/>
          <p:cNvSpPr/>
          <p:nvPr/>
        </p:nvSpPr>
        <p:spPr>
          <a:xfrm>
            <a:off x="1331983" y="3474720"/>
            <a:ext cx="404132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Terbit Blanko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661393" y="347472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1734439" y="4297680"/>
            <a:ext cx="3236417" cy="566928"/>
          </a:xfrm>
          <a:prstGeom prst="roundRect">
            <a:avLst>
              <a:gd name="adj" fmla="val 9677"/>
            </a:avLst>
          </a:prstGeom>
          <a:solidFill>
            <a:srgbClr val="E3A008"/>
          </a:solidFill>
          <a:ln/>
        </p:spPr>
      </p:sp>
      <p:sp>
        <p:nvSpPr>
          <p:cNvPr id="22" name="Text 19"/>
          <p:cNvSpPr/>
          <p:nvPr/>
        </p:nvSpPr>
        <p:spPr>
          <a:xfrm>
            <a:off x="1734439" y="4297680"/>
            <a:ext cx="323641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Blanko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661393" y="429768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57200" y="5166360"/>
            <a:ext cx="5790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*Jumlah baris berstatus DONE per tahap (data aktual)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Monitoring Asesmen Pemanen LSP 2026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icon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018" y="552298"/>
            <a:ext cx="358445" cy="358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A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 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62179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Capaian Target per Asesor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280160" y="10789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Bar Chart — Target (TGT) vs Aktual (ACT)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grafik ini?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2057400"/>
            <a:ext cx="512064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dua angka berpasangan per asesor, yaitu target resmi dan aktual, grouped bar memperbandingkan keduanya secara berdampingan.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bar sengaja tidak dipakai karena akan menjumlahkan target dan aktual, padahal keduanya perlu dibandingkan, bukan dijumlah.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57200" y="4434840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CADCFC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45720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5800" y="484632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Menilai kinerja tiap asesor terhadap target resmi yang ditetapkan LSP, siapa yang di atas dan di bawah target.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943600" y="1737360"/>
          <a:ext cx="5790895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Monitoring Asesmen Pemanen LSP 2026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icon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018" y="552298"/>
            <a:ext cx="358445" cy="358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A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 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62179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 Tahapan: Siapa, Kapan, Statusnya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280160" y="10789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Interaktif + Filter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613855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grafik ini?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13855" y="2057400"/>
            <a:ext cx="512064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 di sini adalah detail individual (nama, bulan, tahun, jumlah), bukan pola visual agregat.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menjaga semua informasi mentah tetap bisa ditelusuri baris per baris, tanpa disederhanakan jadi satu bentuk grafik.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613855" y="4434840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CADCFC"/>
          </a:solidFill>
          <a:ln/>
        </p:spPr>
      </p:sp>
      <p:sp>
        <p:nvSpPr>
          <p:cNvPr id="10" name="Text 7"/>
          <p:cNvSpPr/>
          <p:nvPr/>
        </p:nvSpPr>
        <p:spPr>
          <a:xfrm>
            <a:off x="6842455" y="45720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42455" y="484632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Menjadi alat audit dan verifikasi, memastikan siapa mengerjakan apa pada bulan dan tahun tertentu.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5790895" cy="2194560"/>
        </p:xfrm>
        <a:graphic>
          <a:graphicData uri="http://schemas.openxmlformats.org/drawingml/2006/table">
            <a:tbl>
              <a:tblPr/>
              <a:tblGrid>
                <a:gridCol w="2316358"/>
                <a:gridCol w="1158179"/>
                <a:gridCol w="1158179"/>
                <a:gridCol w="1158179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Asesor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Tahun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Jumlah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Asesor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Asesor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Asesor 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Asesor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457200" y="4389120"/>
            <a:ext cx="5790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tampilan tabel (ilustrasi struktur, bukan data final)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Monitoring Asesmen Pemanen LSP 2026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icon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018" y="552298"/>
            <a:ext cx="358445" cy="358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A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 7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62179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vs Aktualisasi Bulanan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280160" y="10789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 Chart — Bar (Aktual) + Line (Target)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grafik ini?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2057400"/>
            <a:ext cx="512064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bersifat acuan yang sudah ditetapkan lebih dulu dan berkelanjutan sepanjang bulan, cocok digambarkan sebagai garis.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Aktualisasi adalah capaian nyata tiap bulan yang berdiri sendiri, cocok digambarkan sebagai batang.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Kombinasi keduanya membuat selisih (gap) antara target dan realisasi langsung terlihat tiap bulan.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57200" y="4434840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CADCFC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45720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5800" y="484632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Memantau tren capaian dibanding target resmi, dan mendeteksi bulan-bulan yang meleset dari target.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943600" y="1737360"/>
          <a:ext cx="5790895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Monitoring Asesmen Pemanen LSP 2026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icon_p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018" y="552298"/>
            <a:ext cx="358445" cy="358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A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 8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62179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Asesmen Keseluruhan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280160" y="10789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613855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grafik ini?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13855" y="2057400"/>
            <a:ext cx="512064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ada dua kategori, yaitu DONE dan NOT DONE, donut pas untuk menunjukkan proporsi bagian dari keseluruhan.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Lubang di tengah donut bisa dipakai menonjolkan angka total tanpa menambah elemen visual baru.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613855" y="4434840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CADCFC"/>
          </a:solidFill>
          <a:ln/>
        </p:spPr>
      </p:sp>
      <p:sp>
        <p:nvSpPr>
          <p:cNvPr id="10" name="Text 7"/>
          <p:cNvSpPr/>
          <p:nvPr/>
        </p:nvSpPr>
        <p:spPr>
          <a:xfrm>
            <a:off x="6842455" y="45720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42455" y="484632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 gambaran cepat porsi asesmen yang sudah selesai dibanding yang masih tertunda.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57200" y="1737360"/>
          <a:ext cx="5790895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Monitoring Asesmen Pemanen LSP 2026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icon_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018" y="552298"/>
            <a:ext cx="358445" cy="358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A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 9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62179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 Sertifikasi Tahunan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280160" y="10789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grafik ini?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2057400"/>
            <a:ext cx="512064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berurutan berdasarkan waktu (per tahun), line chart adalah cara paling standar untuk menunjukkan pergerakan dari waktu ke waktu.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Garis yang menyambung antar titik memudahkan mata melihat arah naik atau turun dibanding batang yang berdiri sendiri-sendiri.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57200" y="4434840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CADCFC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45720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5800" y="484632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Mengevaluasi pertumbuhan atau penurunan jumlah sertifikasi dari tahun ke tahun untuk evaluasi jangka panjang.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943600" y="1737360"/>
          <a:ext cx="5790895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Monitoring Asesmen Pemanen LSP 2026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icon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018" y="552298"/>
            <a:ext cx="358445" cy="358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A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 10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62179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PT Penyumbang Asesi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280160" y="10789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Bar Chart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613855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grafik ini?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13855" y="2057400"/>
            <a:ext cx="512064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sudah diurutkan sebagai peringkat (top N), bar vertikal menonjolkan urutan dari kiri ke kanan.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kategori sedikit dan label pendek (nama PT), sehingga bar vertikal tetap terbaca tanpa berdesakan.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613855" y="4434840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CADCFC"/>
          </a:solidFill>
          <a:ln/>
        </p:spPr>
      </p:sp>
      <p:sp>
        <p:nvSpPr>
          <p:cNvPr id="10" name="Text 7"/>
          <p:cNvSpPr/>
          <p:nvPr/>
        </p:nvSpPr>
        <p:spPr>
          <a:xfrm>
            <a:off x="6842455" y="45720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42455" y="484632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Mengenali PT dengan kontribusi asesi terbanyak, sebagai dasar apresiasi atau evaluasi kemitraan.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57200" y="1737360"/>
          <a:ext cx="5790895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Monitoring Asesmen Pemanen LSP 2026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icon_st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018" y="552298"/>
            <a:ext cx="358445" cy="358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A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 11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62179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Asesor (Berdasarkan Tahun)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280160" y="10789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Bar Chart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grafik ini?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2057400"/>
            <a:ext cx="512064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Menambahkan satu dimensi lagi, yaitu tahun, di atas peringkat top asesor. Stacking menunjukkan komposisi kontribusi tiap tahun dalam satu batang total.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 dengan total tertinggi tetap terlihat, sekaligus terlihat pola tren tahunannya di dalam batang yang sama.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57200" y="4434840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CADCFC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45720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5800" y="484632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Melihat konsistensi kinerja asesor top dari tahun ke tahun, bukan sekadar total akumulasi.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943600" y="1737360"/>
          <a:ext cx="5790895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Monitoring Asesmen Pemanen LSP 2026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icon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018" y="552298"/>
            <a:ext cx="358445" cy="358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A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 12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62179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Capaian Asesi per Region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280160" y="10789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 Chart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613855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grafik ini?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13855" y="2057400"/>
            <a:ext cx="512064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 seperti sebaran asesor, nama region bervariasi panjang dan jumlah kategorinya cukup banyak.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horizontal yang terurut menjaga keterbacaan label sekaligus menonjolkan urutan kinerja antar wilayah.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613855" y="4434840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CADCFC"/>
          </a:solidFill>
          <a:ln/>
        </p:spPr>
      </p:sp>
      <p:sp>
        <p:nvSpPr>
          <p:cNvPr id="10" name="Text 7"/>
          <p:cNvSpPr/>
          <p:nvPr/>
        </p:nvSpPr>
        <p:spPr>
          <a:xfrm>
            <a:off x="6842455" y="45720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42455" y="484632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Mengevaluasi kinerja penyelesaian asesmen per wilayah kerja, untuk menargetkan dukungan pada region yang tertinggal.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57200" y="1737360"/>
          <a:ext cx="5790895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Monitoring Asesmen Pemanen LSP 2026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icon_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018" y="552298"/>
            <a:ext cx="358445" cy="358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A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 13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62179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Master &amp; Biodata Asesor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280160" y="10789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Data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grafik ini?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2057400"/>
            <a:ext cx="512064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biodata punya banyak kolom atribut per individu, tidak bisa direduksi jadi grafik tanpa kehilangan informasi.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memungkinkan pencarian dan penyortiran manual sesuai kebutuhan pengguna, sekaligus jadi rujukan data mentah.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sensitif (NIK) sengaja tidak ditampilkan di dashboard untuk menjaga privasi data.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57200" y="4434840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CADCFC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45720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5800" y="484632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Menjadi rujukan data master asesor yang lengkap dan bisa ditelusuri kapan pun dibutuhkan.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2011680"/>
          <a:ext cx="5790895" cy="2194560"/>
        </p:xfrm>
        <a:graphic>
          <a:graphicData uri="http://schemas.openxmlformats.org/drawingml/2006/table">
            <a:tbl>
              <a:tblPr/>
              <a:tblGrid>
                <a:gridCol w="2026813"/>
                <a:gridCol w="2316358"/>
                <a:gridCol w="1447724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Nama Lengkap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Provinsi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Asesor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PT. Contoh Sawit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Sumatera Utara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Asesor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PT. Contoh Nusantara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Kalimantan Timur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Asesor 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PT. Contoh Abadi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Asesor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PT. Contoh Lestari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Riau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5943600" y="4389120"/>
            <a:ext cx="5790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tampilan tabel (ilustrasi struktur, nama disamarkan)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Monitoring Asesmen Pemanen LSP 2026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E3A008"/>
          </a:solidFill>
          <a:ln/>
        </p:spPr>
      </p:sp>
      <p:pic>
        <p:nvPicPr>
          <p:cNvPr id="3" name="Image 0" descr="/home/claude/icon_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018" y="598018"/>
            <a:ext cx="358445" cy="358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97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A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66751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 Pertanyaan, Satu Bentuk Grafik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73152" cy="329184"/>
          </a:xfrm>
          <a:prstGeom prst="rect">
            <a:avLst/>
          </a:prstGeom>
          <a:solidFill>
            <a:srgbClr val="E3A008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389888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Sebaran Asesor per PT &amp; Provinsi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251960" y="1389888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Horizontal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837944"/>
            <a:ext cx="73152" cy="329184"/>
          </a:xfrm>
          <a:prstGeom prst="rect">
            <a:avLst/>
          </a:prstGeom>
          <a:solidFill>
            <a:srgbClr val="E3A008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810512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Tahapan Sertifikasi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251960" y="1810512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2258568"/>
            <a:ext cx="73152" cy="329184"/>
          </a:xfrm>
          <a:prstGeom prst="rect">
            <a:avLst/>
          </a:prstGeom>
          <a:solidFill>
            <a:srgbClr val="E3A008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231136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Target per Asesor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251960" y="2231136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Bar (TGT vs ACT)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2679192"/>
            <a:ext cx="73152" cy="329184"/>
          </a:xfrm>
          <a:prstGeom prst="rect">
            <a:avLst/>
          </a:prstGeom>
          <a:solidFill>
            <a:srgbClr val="E3A008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2651760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Tahapan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251960" y="265176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+ Filter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099816"/>
            <a:ext cx="73152" cy="329184"/>
          </a:xfrm>
          <a:prstGeom prst="rect">
            <a:avLst/>
          </a:prstGeom>
          <a:solidFill>
            <a:srgbClr val="E3A008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3072384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vs Aktualisasi Bulanan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251960" y="3072384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 Bar + Line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3520440"/>
            <a:ext cx="73152" cy="329184"/>
          </a:xfrm>
          <a:prstGeom prst="rect">
            <a:avLst/>
          </a:prstGeom>
          <a:solidFill>
            <a:srgbClr val="E3A008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3493008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Asesmen Keseluruhan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251960" y="3493008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492240" y="1417320"/>
            <a:ext cx="73152" cy="329184"/>
          </a:xfrm>
          <a:prstGeom prst="rect">
            <a:avLst/>
          </a:prstGeom>
          <a:solidFill>
            <a:srgbClr val="E3A008"/>
          </a:solidFill>
          <a:ln/>
        </p:spPr>
      </p:sp>
      <p:sp>
        <p:nvSpPr>
          <p:cNvPr id="25" name="Text 22"/>
          <p:cNvSpPr/>
          <p:nvPr/>
        </p:nvSpPr>
        <p:spPr>
          <a:xfrm>
            <a:off x="6675120" y="1389888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 Sertifikasi Tahunan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0287000" y="1389888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492240" y="1837944"/>
            <a:ext cx="73152" cy="329184"/>
          </a:xfrm>
          <a:prstGeom prst="rect">
            <a:avLst/>
          </a:prstGeom>
          <a:solidFill>
            <a:srgbClr val="E3A008"/>
          </a:solidFill>
          <a:ln/>
        </p:spPr>
      </p:sp>
      <p:sp>
        <p:nvSpPr>
          <p:cNvPr id="28" name="Text 25"/>
          <p:cNvSpPr/>
          <p:nvPr/>
        </p:nvSpPr>
        <p:spPr>
          <a:xfrm>
            <a:off x="6675120" y="1810512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PT Penyumbang Asesi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0287000" y="1810512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Vertikal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492240" y="2258568"/>
            <a:ext cx="73152" cy="329184"/>
          </a:xfrm>
          <a:prstGeom prst="rect">
            <a:avLst/>
          </a:prstGeom>
          <a:solidFill>
            <a:srgbClr val="E3A008"/>
          </a:solidFill>
          <a:ln/>
        </p:spPr>
      </p:sp>
      <p:sp>
        <p:nvSpPr>
          <p:cNvPr id="31" name="Text 28"/>
          <p:cNvSpPr/>
          <p:nvPr/>
        </p:nvSpPr>
        <p:spPr>
          <a:xfrm>
            <a:off x="6675120" y="2231136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Asesor per Tahun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0287000" y="2231136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Bar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492240" y="2679192"/>
            <a:ext cx="73152" cy="329184"/>
          </a:xfrm>
          <a:prstGeom prst="rect">
            <a:avLst/>
          </a:prstGeom>
          <a:solidFill>
            <a:srgbClr val="E3A008"/>
          </a:solidFill>
          <a:ln/>
        </p:spPr>
      </p:sp>
      <p:sp>
        <p:nvSpPr>
          <p:cNvPr id="34" name="Text 31"/>
          <p:cNvSpPr/>
          <p:nvPr/>
        </p:nvSpPr>
        <p:spPr>
          <a:xfrm>
            <a:off x="6675120" y="2651760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Asesi per Region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10287000" y="265176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Horizontal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492240" y="3099816"/>
            <a:ext cx="73152" cy="329184"/>
          </a:xfrm>
          <a:prstGeom prst="rect">
            <a:avLst/>
          </a:prstGeom>
          <a:solidFill>
            <a:srgbClr val="E3A008"/>
          </a:solidFill>
          <a:ln/>
        </p:spPr>
      </p:sp>
      <p:sp>
        <p:nvSpPr>
          <p:cNvPr id="37" name="Text 34"/>
          <p:cNvSpPr/>
          <p:nvPr/>
        </p:nvSpPr>
        <p:spPr>
          <a:xfrm>
            <a:off x="6675120" y="3072384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Master Biodata Asesor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10287000" y="3072384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457200" y="5806440"/>
            <a:ext cx="11277295" cy="594360"/>
          </a:xfrm>
          <a:prstGeom prst="roundRect">
            <a:avLst>
              <a:gd name="adj" fmla="val 9231"/>
            </a:avLst>
          </a:prstGeom>
          <a:solidFill>
            <a:srgbClr val="3D5AA6"/>
          </a:solidFill>
          <a:ln/>
        </p:spPr>
      </p:sp>
      <p:sp>
        <p:nvSpPr>
          <p:cNvPr id="40" name="Text 37"/>
          <p:cNvSpPr/>
          <p:nvPr/>
        </p:nvSpPr>
        <p:spPr>
          <a:xfrm>
            <a:off x="685800" y="5806440"/>
            <a:ext cx="108200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 intinya: tipe grafik dipilih berdasarkan jenis pertanyaan yang ingin dijawab, bukan sekadar tampilan.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Monitoring Asesmen Pemanen LSP 2026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Dashboard Monitoring Asesmen Pemanen LSP</dc:creator>
  <cp:lastModifiedBy>Dashboard Monitoring Asesmen Pemanen LSP</cp:lastModifiedBy>
  <cp:revision>1</cp:revision>
  <dcterms:created xsi:type="dcterms:W3CDTF">2026-09-18T06:09:22Z</dcterms:created>
  <dcterms:modified xsi:type="dcterms:W3CDTF">2026-09-18T06:09:22Z</dcterms:modified>
</cp:coreProperties>
</file>